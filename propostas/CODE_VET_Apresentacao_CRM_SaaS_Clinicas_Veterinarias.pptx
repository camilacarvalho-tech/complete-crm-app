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13232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CODE Tecnologia Empresarial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23444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A0E1A"/>
                </a:solidFill>
                <a:latin typeface="Calibri"/>
              </a:rPr>
              <a:t>CODE VET  ·  SaaS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CODE VET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4B8A6"/>
                </a:solidFill>
                <a:latin typeface="Calibri"/>
              </a:rPr>
              <a:t>Plataforma Inteligente para
Clínicas Veterinárias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5760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1D5DB"/>
                </a:solidFill>
                <a:latin typeface="Calibri"/>
              </a:rPr>
              <a:t>CRM  ·  ERP  ·  Inteligência Artificial  ·  Automação  ·  BI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4983480"/>
            <a:ext cx="12191695" cy="1874519"/>
          </a:xfrm>
          <a:prstGeom prst="rect">
            <a:avLst/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98348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120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Apresentado por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486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Camila Carvalho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521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Bacharel em Ciência de Dados  ·  CODE Tecnologia Empresarial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1792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B8A6"/>
                </a:solidFill>
                <a:latin typeface="Calibri"/>
              </a:rPr>
              <a:t>🌐  codetechoficial.com.br     📞  (14) 99690-2902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56235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CA3AF"/>
                </a:solidFill>
                <a:latin typeface="Calibri"/>
              </a:rPr>
              <a:t>Apresentação Comercial
Produto SaaS Veterinária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91440" cy="3840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Quem é a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Plataformas SaaS modernas para automatizar, reduzir custos e aumentar produtividade</a:t>
            </a:r>
          </a:p>
        </p:txBody>
      </p:sp>
      <p:pic>
        <p:nvPicPr>
          <p:cNvPr id="7" name="Picture 6" descr="tech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3931920" cy="512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0" y="123444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1D5DB"/>
                </a:solidFill>
                <a:latin typeface="Calibri"/>
              </a:rPr>
              <a:t>A CODE Tecnologia Empresarial desenvolve plataformas SaaS modernas para empresas que desejam automatizar processos, reduzir custos e aumentar a produtividade.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651760"/>
            <a:ext cx="3246120" cy="685800"/>
          </a:xfrm>
          <a:prstGeom prst="roundRect">
            <a:avLst>
              <a:gd name="adj" fmla="val 12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2651760"/>
            <a:ext cx="73152" cy="685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281635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2651760"/>
            <a:ext cx="3246120" cy="685800"/>
          </a:xfrm>
          <a:prstGeom prst="roundRect">
            <a:avLst>
              <a:gd name="adj" fmla="val 12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80" y="2651760"/>
            <a:ext cx="73152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81635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ERP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3474720"/>
            <a:ext cx="3246120" cy="685800"/>
          </a:xfrm>
          <a:prstGeom prst="roundRect">
            <a:avLst>
              <a:gd name="adj" fmla="val 12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3474720"/>
            <a:ext cx="73152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363931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Inteligência Artificial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3474720"/>
            <a:ext cx="3246120" cy="685800"/>
          </a:xfrm>
          <a:prstGeom prst="roundRect">
            <a:avLst>
              <a:gd name="adj" fmla="val 12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80" y="3474720"/>
            <a:ext cx="73152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363931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Ciência de Dados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4297680"/>
            <a:ext cx="3246120" cy="685800"/>
          </a:xfrm>
          <a:prstGeom prst="roundRect">
            <a:avLst>
              <a:gd name="adj" fmla="val 12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0" y="4297680"/>
            <a:ext cx="73152" cy="685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44622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Desenvolvimento Web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4297680"/>
            <a:ext cx="3246120" cy="685800"/>
          </a:xfrm>
          <a:prstGeom prst="roundRect">
            <a:avLst>
              <a:gd name="adj" fmla="val 12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83880" y="4297680"/>
            <a:ext cx="73152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44622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Aplicativos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0" y="5120640"/>
            <a:ext cx="3246120" cy="685800"/>
          </a:xfrm>
          <a:prstGeom prst="roundRect">
            <a:avLst>
              <a:gd name="adj" fmla="val 12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54880" y="5120640"/>
            <a:ext cx="73152" cy="685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528523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Dashboards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80" y="5120640"/>
            <a:ext cx="3246120" cy="685800"/>
          </a:xfrm>
          <a:prstGeom prst="roundRect">
            <a:avLst>
              <a:gd name="adj" fmla="val 12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80" y="5120640"/>
            <a:ext cx="73152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528523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Cloud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91440" cy="3840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 desafio das clínicas veterinárias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Operação intensa, canais fragmentados e perda de receita</a:t>
            </a:r>
          </a:p>
        </p:txBody>
      </p:sp>
      <p:pic>
        <p:nvPicPr>
          <p:cNvPr id="7" name="Picture 6" descr="challenge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2148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3520440"/>
            <a:ext cx="2148840" cy="1097280"/>
          </a:xfrm>
          <a:prstGeom prst="roundRect">
            <a:avLst>
              <a:gd name="adj" fmla="val 12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520440"/>
            <a:ext cx="2148840" cy="7315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84048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5E7EB"/>
                </a:solidFill>
                <a:latin typeface="Calibri"/>
              </a:rPr>
              <a:t>⚠  Agenda manual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3520440"/>
            <a:ext cx="2148840" cy="1097280"/>
          </a:xfrm>
          <a:prstGeom prst="roundRect">
            <a:avLst>
              <a:gd name="adj" fmla="val 12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0" y="3520440"/>
            <a:ext cx="21488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384048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5E7EB"/>
                </a:solidFill>
                <a:latin typeface="Calibri"/>
              </a:rPr>
              <a:t>⚠  WhatsApp sobrecarregado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3520440"/>
            <a:ext cx="2148840" cy="1097280"/>
          </a:xfrm>
          <a:prstGeom prst="roundRect">
            <a:avLst>
              <a:gd name="adj" fmla="val 12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3520440"/>
            <a:ext cx="2148840" cy="7315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384048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5E7EB"/>
                </a:solidFill>
                <a:latin typeface="Calibri"/>
              </a:rPr>
              <a:t>⚠  Prontuários em papel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3520440"/>
            <a:ext cx="2148840" cy="1097280"/>
          </a:xfrm>
          <a:prstGeom prst="roundRect">
            <a:avLst>
              <a:gd name="adj" fmla="val 12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3520440"/>
            <a:ext cx="21488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384048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5E7EB"/>
                </a:solidFill>
                <a:latin typeface="Calibri"/>
              </a:rPr>
              <a:t>⚠  Financeiro descentralizado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3520440"/>
            <a:ext cx="2148840" cy="1097280"/>
          </a:xfrm>
          <a:prstGeom prst="roundRect">
            <a:avLst>
              <a:gd name="adj" fmla="val 12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0" y="3520440"/>
            <a:ext cx="2148840" cy="7315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38360" y="384048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5E7EB"/>
                </a:solidFill>
                <a:latin typeface="Calibri"/>
              </a:rPr>
              <a:t>⚠  Estoque difícil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800600"/>
            <a:ext cx="2148840" cy="1097280"/>
          </a:xfrm>
          <a:prstGeom prst="roundRect">
            <a:avLst>
              <a:gd name="adj" fmla="val 12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800600"/>
            <a:ext cx="21488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12064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5E7EB"/>
                </a:solidFill>
                <a:latin typeface="Calibri"/>
              </a:rPr>
              <a:t>⚠  Vacinas sem acompanhamento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4800600"/>
            <a:ext cx="2148840" cy="1097280"/>
          </a:xfrm>
          <a:prstGeom prst="roundRect">
            <a:avLst>
              <a:gd name="adj" fmla="val 12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0" y="4800600"/>
            <a:ext cx="2148840" cy="7315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80360" y="512064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5E7EB"/>
                </a:solidFill>
                <a:latin typeface="Calibri"/>
              </a:rPr>
              <a:t>⚠  Consultas esquecidas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0" y="4800600"/>
            <a:ext cx="2148840" cy="1097280"/>
          </a:xfrm>
          <a:prstGeom prst="roundRect">
            <a:avLst>
              <a:gd name="adj" fmla="val 12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0" y="4800600"/>
            <a:ext cx="21488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66360" y="512064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5E7EB"/>
                </a:solidFill>
                <a:latin typeface="Calibri"/>
              </a:rPr>
              <a:t>⚠  Falta de indicadores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4800600"/>
            <a:ext cx="2148840" cy="1097280"/>
          </a:xfrm>
          <a:prstGeom prst="roundRect">
            <a:avLst>
              <a:gd name="adj" fmla="val 12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0" y="4800600"/>
            <a:ext cx="2148840" cy="7315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512064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5E7EB"/>
                </a:solidFill>
                <a:latin typeface="Calibri"/>
              </a:rPr>
              <a:t>⚠  Processos repetitivos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0" y="4800600"/>
            <a:ext cx="2148840" cy="1097280"/>
          </a:xfrm>
          <a:prstGeom prst="roundRect">
            <a:avLst>
              <a:gd name="adj" fmla="val 12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01200" y="4800600"/>
            <a:ext cx="21488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38360" y="512064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5E7EB"/>
                </a:solidFill>
                <a:latin typeface="Calibri"/>
              </a:rPr>
              <a:t>⚠  Perda de receita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91440" cy="3840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Nossa solução — CODE VET SaaS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Uma plataforma completa para administrar toda a clínica em um único lugar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1D5DB"/>
                </a:solidFill>
                <a:latin typeface="Calibri"/>
              </a:rPr>
              <a:t>Integração entre todos os setores. Um sistema. Uma operação. Uma visão.</a:t>
            </a:r>
          </a:p>
        </p:txBody>
      </p:sp>
      <p:pic>
        <p:nvPicPr>
          <p:cNvPr id="8" name="Picture 7" descr="modules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0"/>
            <a:ext cx="11155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91440" cy="3840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Dashboard Inteligente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Indicadores em tempo real para decisões rápidas e gestão baseada em dados</a:t>
            </a:r>
          </a:p>
        </p:txBody>
      </p:sp>
      <p:pic>
        <p:nvPicPr>
          <p:cNvPr id="7" name="Picture 6" descr="dashboard_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108813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91440" cy="3840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CRM Veterinário — o coração do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Cadastro completo de tutores, pets e histórico clínico-financeiro</a:t>
            </a:r>
          </a:p>
        </p:txBody>
      </p:sp>
      <p:pic>
        <p:nvPicPr>
          <p:cNvPr id="7" name="Picture 6" descr="crm_tri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111556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91440" cy="3840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Agenda Inteligente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Organização por profissional, sala e procedimento — com automações</a:t>
            </a:r>
          </a:p>
        </p:txBody>
      </p:sp>
      <p:pic>
        <p:nvPicPr>
          <p:cNvPr id="7" name="Picture 6" descr="agenda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315200" cy="5212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46720" y="1143000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1143000"/>
            <a:ext cx="73152" cy="5486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2527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Por médico veterinário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64792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764792"/>
            <a:ext cx="73152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874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Por sala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386584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386584"/>
            <a:ext cx="73152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4963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Por procedimento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008376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3008376"/>
            <a:ext cx="73152" cy="5486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1181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Confirmação automática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630168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630168"/>
            <a:ext cx="73152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7398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Lembretes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251960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4251960"/>
            <a:ext cx="73152" cy="5486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43616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Reagendamento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873752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4873752"/>
            <a:ext cx="73152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4983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Fila de espera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5495544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5495544"/>
            <a:ext cx="73152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56052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Google Calendar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91440" cy="3840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Prontuário Digital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Registro clínico completo, seguro e acessível em qualquer momento</a:t>
            </a:r>
          </a:p>
        </p:txBody>
      </p:sp>
      <p:pic>
        <p:nvPicPr>
          <p:cNvPr id="7" name="Picture 6" descr="prontuario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91440" cy="3840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Financeiro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Controle completo do caixa, faturamento, comissões e indicadores</a:t>
            </a:r>
          </a:p>
        </p:txBody>
      </p:sp>
      <p:pic>
        <p:nvPicPr>
          <p:cNvPr id="7" name="Picture 6" descr="finance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7498079" cy="5303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83879" y="1188720"/>
            <a:ext cx="3566160" cy="731520"/>
          </a:xfrm>
          <a:prstGeom prst="roundRect">
            <a:avLst>
              <a:gd name="adj" fmla="val 12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83879" y="1188720"/>
            <a:ext cx="73152" cy="7315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Contas a pagar / receber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2011680"/>
            <a:ext cx="3566160" cy="731520"/>
          </a:xfrm>
          <a:prstGeom prst="roundRect">
            <a:avLst>
              <a:gd name="adj" fmla="val 12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83879" y="2011680"/>
            <a:ext cx="73152" cy="731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Fluxo de caixa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2834640"/>
            <a:ext cx="3566160" cy="731520"/>
          </a:xfrm>
          <a:prstGeom prst="roundRect">
            <a:avLst>
              <a:gd name="adj" fmla="val 12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2834640"/>
            <a:ext cx="73152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3017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Mensalidades &amp; Convênios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3657600"/>
            <a:ext cx="3566160" cy="731520"/>
          </a:xfrm>
          <a:prstGeom prst="roundRect">
            <a:avLst>
              <a:gd name="adj" fmla="val 12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3657600"/>
            <a:ext cx="73152" cy="731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3840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PIX · Cartão · Boletos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4480560"/>
            <a:ext cx="3566160" cy="731520"/>
          </a:xfrm>
          <a:prstGeom prst="roundRect">
            <a:avLst>
              <a:gd name="adj" fmla="val 12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79" y="4480560"/>
            <a:ext cx="73152" cy="7315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4663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NF-e · DRE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5303520"/>
            <a:ext cx="3566160" cy="731520"/>
          </a:xfrm>
          <a:prstGeom prst="roundRect">
            <a:avLst>
              <a:gd name="adj" fmla="val 12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83879" y="5303520"/>
            <a:ext cx="73152" cy="7315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5486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Comissões &amp; Relatórios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91440" cy="3840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Estoque Inteligente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Controle de insumos críticos com validade, lote e reposição automática</a:t>
            </a:r>
          </a:p>
        </p:txBody>
      </p:sp>
      <p:pic>
        <p:nvPicPr>
          <p:cNvPr id="7" name="Picture 6" descr="estoque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91440" cy="3840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Inteligência Artificial — CODE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Automação inteligente para atendimento, operação e crescimento</a:t>
            </a:r>
          </a:p>
        </p:txBody>
      </p:sp>
      <p:pic>
        <p:nvPicPr>
          <p:cNvPr id="7" name="Picture 6" descr="ai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583680" cy="5120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143000"/>
            <a:ext cx="4297680" cy="475488"/>
          </a:xfrm>
          <a:prstGeom prst="roundRect">
            <a:avLst>
              <a:gd name="adj" fmla="val 15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143000"/>
            <a:ext cx="73152" cy="47548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21615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Calibri"/>
              </a:rPr>
              <a:t>AI  ·  Responder clientes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673352"/>
            <a:ext cx="4297680" cy="475488"/>
          </a:xfrm>
          <a:prstGeom prst="roundRect">
            <a:avLst>
              <a:gd name="adj" fmla="val 15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1673352"/>
            <a:ext cx="73152" cy="4754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174650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Calibri"/>
              </a:rPr>
              <a:t>AI  ·  Triagem inicial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203704"/>
            <a:ext cx="4297680" cy="475488"/>
          </a:xfrm>
          <a:prstGeom prst="roundRect">
            <a:avLst>
              <a:gd name="adj" fmla="val 15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0" y="2203704"/>
            <a:ext cx="73152" cy="4754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227685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Calibri"/>
              </a:rPr>
              <a:t>AI  ·  Agendar consultas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2734056"/>
            <a:ext cx="4297680" cy="475488"/>
          </a:xfrm>
          <a:prstGeom prst="roundRect">
            <a:avLst>
              <a:gd name="adj" fmla="val 15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2734056"/>
            <a:ext cx="73152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280720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Calibri"/>
              </a:rPr>
              <a:t>AI  ·  Responder WhatsApp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3264408"/>
            <a:ext cx="4297680" cy="475488"/>
          </a:xfrm>
          <a:prstGeom prst="roundRect">
            <a:avLst>
              <a:gd name="adj" fmla="val 15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0" y="3264408"/>
            <a:ext cx="73152" cy="4754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33375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Calibri"/>
              </a:rPr>
              <a:t>AI  ·  Analisar indicadores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3794760"/>
            <a:ext cx="4297680" cy="475488"/>
          </a:xfrm>
          <a:prstGeom prst="roundRect">
            <a:avLst>
              <a:gd name="adj" fmla="val 15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0" y="3794760"/>
            <a:ext cx="73152" cy="47548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386791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Calibri"/>
              </a:rPr>
              <a:t>AI  ·  Criar campanhas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4325112"/>
            <a:ext cx="4297680" cy="475488"/>
          </a:xfrm>
          <a:prstGeom prst="roundRect">
            <a:avLst>
              <a:gd name="adj" fmla="val 15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0" y="4325112"/>
            <a:ext cx="73152" cy="4754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439826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Calibri"/>
              </a:rPr>
              <a:t>AI  ·  Enviar lembretes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4855464"/>
            <a:ext cx="4297680" cy="475488"/>
          </a:xfrm>
          <a:prstGeom prst="roundRect">
            <a:avLst>
              <a:gd name="adj" fmla="val 15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0" y="4855464"/>
            <a:ext cx="73152" cy="4754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0" y="492861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Calibri"/>
              </a:rPr>
              <a:t>AI  ·  Prever demanda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5385816"/>
            <a:ext cx="4297680" cy="475488"/>
          </a:xfrm>
          <a:prstGeom prst="roundRect">
            <a:avLst>
              <a:gd name="adj" fmla="val 15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0" y="5385816"/>
            <a:ext cx="73152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0" y="54589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Calibri"/>
              </a:rPr>
              <a:t>AI  ·  Gerar relatórios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91440" cy="3840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Automações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Comunicação e marketing contínuos sem retrabalho da equipe</a:t>
            </a:r>
          </a:p>
        </p:txBody>
      </p:sp>
      <p:pic>
        <p:nvPicPr>
          <p:cNvPr id="7" name="Picture 6" descr="auto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11338560" cy="3840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5120640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120640"/>
            <a:ext cx="73152" cy="5486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2303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E7EB"/>
                </a:solidFill>
                <a:latin typeface="Calibri"/>
              </a:rPr>
              <a:t>Lembrete de vacina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5120640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5120640"/>
            <a:ext cx="73152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52303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E7EB"/>
                </a:solidFill>
                <a:latin typeface="Calibri"/>
              </a:rPr>
              <a:t>Lembrete de retorno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5120640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5120640"/>
            <a:ext cx="73152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52303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E7EB"/>
                </a:solidFill>
                <a:latin typeface="Calibri"/>
              </a:rPr>
              <a:t>Aniversário do Pet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760720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760720"/>
            <a:ext cx="73152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8704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E7EB"/>
                </a:solidFill>
                <a:latin typeface="Calibri"/>
              </a:rPr>
              <a:t>Pesquisa de satisfação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5760720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5760720"/>
            <a:ext cx="73152" cy="5486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58704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E7EB"/>
                </a:solidFill>
                <a:latin typeface="Calibri"/>
              </a:rPr>
              <a:t>Cobranças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80" y="5760720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83880" y="5760720"/>
            <a:ext cx="73152" cy="5486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58704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E7EB"/>
                </a:solidFill>
                <a:latin typeface="Calibri"/>
              </a:rPr>
              <a:t>Remarketing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91440" cy="3840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Aplicativo 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Experiência digital para a clínica e para o tutor</a:t>
            </a:r>
          </a:p>
        </p:txBody>
      </p:sp>
      <p:pic>
        <p:nvPicPr>
          <p:cNvPr id="7" name="Picture 6" descr="phone_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3108960" cy="5394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0" y="1143000"/>
            <a:ext cx="7498079" cy="868680"/>
          </a:xfrm>
          <a:prstGeom prst="roundRect">
            <a:avLst>
              <a:gd name="adj" fmla="val 10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0" y="1143000"/>
            <a:ext cx="91440" cy="8686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60" y="128016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Carteira Digital do Pet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60020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Histórico vacinal e documentos sempre à mão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2103120"/>
            <a:ext cx="7498079" cy="868680"/>
          </a:xfrm>
          <a:prstGeom prst="roundRect">
            <a:avLst>
              <a:gd name="adj" fmla="val 10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2103120"/>
            <a:ext cx="91440" cy="868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228600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24028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Agendamento online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5603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Marque e remarque com poucos toques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3063240"/>
            <a:ext cx="7498079" cy="868680"/>
          </a:xfrm>
          <a:prstGeom prst="roundRect">
            <a:avLst>
              <a:gd name="adj" fmla="val 10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0" y="3063240"/>
            <a:ext cx="91440" cy="868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34840" y="324612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320040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Chat &amp; Notificações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352044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Comunicação direta com a clínica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4023360"/>
            <a:ext cx="7498079" cy="868680"/>
          </a:xfrm>
          <a:prstGeom prst="roundRect">
            <a:avLst>
              <a:gd name="adj" fmla="val 10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0" y="4023360"/>
            <a:ext cx="91440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34840" y="420624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66360" y="416052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Exames e Receitas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448056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Acesso rápido a resultados e prescrições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0" y="4983480"/>
            <a:ext cx="7498079" cy="868680"/>
          </a:xfrm>
          <a:prstGeom prst="roundRect">
            <a:avLst>
              <a:gd name="adj" fmla="val 10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0" y="4983480"/>
            <a:ext cx="91440" cy="8686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434840" y="516636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66360" y="512064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Vacinas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6360" y="544068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Acompanhamento e lembretes automáticos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91440" cy="3840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Benefícios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Resultados práticos na operação, no atendimento e no faturamento</a:t>
            </a:r>
          </a:p>
        </p:txBody>
      </p:sp>
      <p:pic>
        <p:nvPicPr>
          <p:cNvPr id="7" name="Picture 6" descr="benef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11155680" cy="3200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4572000"/>
            <a:ext cx="3657600" cy="685800"/>
          </a:xfrm>
          <a:prstGeom prst="roundRect">
            <a:avLst>
              <a:gd name="adj" fmla="val 12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4572000"/>
            <a:ext cx="73152" cy="685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7365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★  Redução de custos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4572000"/>
            <a:ext cx="3657600" cy="685800"/>
          </a:xfrm>
          <a:prstGeom prst="roundRect">
            <a:avLst>
              <a:gd name="adj" fmla="val 12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4572000"/>
            <a:ext cx="73152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47365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★  Mais produtividade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4572000"/>
            <a:ext cx="3657600" cy="685800"/>
          </a:xfrm>
          <a:prstGeom prst="roundRect">
            <a:avLst>
              <a:gd name="adj" fmla="val 12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4572000"/>
            <a:ext cx="73152" cy="685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47365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★  Menos retrabalho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94960"/>
            <a:ext cx="3657600" cy="685800"/>
          </a:xfrm>
          <a:prstGeom prst="roundRect">
            <a:avLst>
              <a:gd name="adj" fmla="val 12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394960"/>
            <a:ext cx="73152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5595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★  Atendimento rápido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5394960"/>
            <a:ext cx="3657600" cy="685800"/>
          </a:xfrm>
          <a:prstGeom prst="roundRect">
            <a:avLst>
              <a:gd name="adj" fmla="val 12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5394960"/>
            <a:ext cx="73152" cy="685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55595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★  Gestão completa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80" y="5394960"/>
            <a:ext cx="3657600" cy="685800"/>
          </a:xfrm>
          <a:prstGeom prst="roundRect">
            <a:avLst>
              <a:gd name="adj" fmla="val 12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83880" y="5394960"/>
            <a:ext cx="73152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55595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★  Segurança dos dados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91440" cy="3840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Roteiro do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Do levantamento de requisitos à implantação e suporte contínuo</a:t>
            </a:r>
          </a:p>
        </p:txBody>
      </p:sp>
      <p:pic>
        <p:nvPicPr>
          <p:cNvPr id="7" name="Picture 6" descr="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1828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3200400"/>
            <a:ext cx="2194560" cy="3063240"/>
          </a:xfrm>
          <a:prstGeom prst="roundRect">
            <a:avLst>
              <a:gd name="adj" fmla="val 8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3200400"/>
            <a:ext cx="2194560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4290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Fase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49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Descoberta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0624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1D5DB"/>
                </a:solidFill>
                <a:latin typeface="Calibri"/>
              </a:rPr>
              <a:t>Levantamento
Protótipos UI/UX
Aprovação do fluxo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3200400"/>
            <a:ext cx="2194560" cy="3063240"/>
          </a:xfrm>
          <a:prstGeom prst="roundRect">
            <a:avLst>
              <a:gd name="adj" fmla="val 8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0" y="3200400"/>
            <a:ext cx="219456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34290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Calibri"/>
              </a:rPr>
              <a:t>Fase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749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Core CRM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420624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1D5DB"/>
                </a:solidFill>
                <a:latin typeface="Calibri"/>
              </a:rPr>
              <a:t>CRM + Agenda
Tutores e pets
Prontuário digital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3200400"/>
            <a:ext cx="2194560" cy="3063240"/>
          </a:xfrm>
          <a:prstGeom prst="roundRect">
            <a:avLst>
              <a:gd name="adj" fmla="val 8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74920" y="3200400"/>
            <a:ext cx="2194560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34290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5CF6"/>
                </a:solidFill>
                <a:latin typeface="Calibri"/>
              </a:rPr>
              <a:t>Fase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749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Gestão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420624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1D5DB"/>
                </a:solidFill>
                <a:latin typeface="Calibri"/>
              </a:rPr>
              <a:t>Financeiro
Estoque
Dashboard / BI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3200400"/>
            <a:ext cx="2194560" cy="3063240"/>
          </a:xfrm>
          <a:prstGeom prst="roundRect">
            <a:avLst>
              <a:gd name="adj" fmla="val 8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640" y="3200400"/>
            <a:ext cx="219456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34290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Fase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3749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Inteligência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420624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1D5DB"/>
                </a:solidFill>
                <a:latin typeface="Calibri"/>
              </a:rPr>
              <a:t>CODE AI
WhatsApp
Automações + App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38360" y="3200400"/>
            <a:ext cx="2194560" cy="3063240"/>
          </a:xfrm>
          <a:prstGeom prst="roundRect">
            <a:avLst>
              <a:gd name="adj" fmla="val 8000"/>
            </a:avLst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38360" y="3200400"/>
            <a:ext cx="2194560" cy="91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0" y="34290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  <a:latin typeface="Calibri"/>
              </a:rPr>
              <a:t>Fase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749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420624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1D5DB"/>
                </a:solidFill>
                <a:latin typeface="Calibri"/>
              </a:rPr>
              <a:t>Testes
Implantação
Treinamento + Suporte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ver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371600" y="914400"/>
            <a:ext cx="9418320" cy="4846320"/>
          </a:xfrm>
          <a:prstGeom prst="rect">
            <a:avLst/>
          </a:prstGeom>
          <a:solidFill>
            <a:srgbClr val="1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914400"/>
            <a:ext cx="941832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60520" y="1280160"/>
            <a:ext cx="3840480" cy="36576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A0E1A"/>
                </a:solidFill>
                <a:latin typeface="Calibri"/>
              </a:rPr>
              <a:t>VAMOS TRANSFORMAR SUA CLÍNICA?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920240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CODE Tecnologia Empresarial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6888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4B8A6"/>
                </a:solidFill>
                <a:latin typeface="Calibri"/>
              </a:rPr>
              <a:t>Tecnologia que impulsiona empresas.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926080"/>
            <a:ext cx="8869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CA3AF"/>
                </a:solidFill>
                <a:latin typeface="Calibri"/>
              </a:rPr>
              <a:t>CRM  ·  ERP  ·  IA  ·  Automação  ·  App  ·  Business Intelligence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3566160"/>
            <a:ext cx="2697480" cy="1234440"/>
          </a:xfrm>
          <a:prstGeom prst="roundRect">
            <a:avLst>
              <a:gd name="adj" fmla="val 12000"/>
            </a:avLst>
          </a:prstGeom>
          <a:solidFill>
            <a:srgbClr val="15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3749039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B8A6"/>
                </a:solidFill>
                <a:latin typeface="Calibri"/>
              </a:rPr>
              <a:t>Site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16052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codetechoficial.com.br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3566160"/>
            <a:ext cx="2697480" cy="1234440"/>
          </a:xfrm>
          <a:prstGeom prst="roundRect">
            <a:avLst>
              <a:gd name="adj" fmla="val 12000"/>
            </a:avLst>
          </a:prstGeom>
          <a:solidFill>
            <a:srgbClr val="15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3749039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B8A6"/>
                </a:solidFill>
                <a:latin typeface="Calibri"/>
              </a:rPr>
              <a:t>WhatsApp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16052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(14) 99690-2902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3566160"/>
            <a:ext cx="2697480" cy="1234440"/>
          </a:xfrm>
          <a:prstGeom prst="roundRect">
            <a:avLst>
              <a:gd name="adj" fmla="val 12000"/>
            </a:avLst>
          </a:prstGeom>
          <a:solidFill>
            <a:srgbClr val="15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3749039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B8A6"/>
                </a:solidFill>
                <a:latin typeface="Calibri"/>
              </a:rPr>
              <a:t>Apresentação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16052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Camila Carvalho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02920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CA3AF"/>
                </a:solidFill>
                <a:latin typeface="Calibri"/>
              </a:rPr>
              <a:t>Bacharel em Ciência de Dados  ·  Não entregamos apenas um sistema —
entregamos uma plataforma SaaS completa para gestão veterinária.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